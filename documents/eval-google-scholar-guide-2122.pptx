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6296"/>
  </p:normalViewPr>
  <p:slideViewPr>
    <p:cSldViewPr snapToGrid="0" snapToObjects="1">
      <p:cViewPr varScale="1">
        <p:scale>
          <a:sx n="90" d="100"/>
          <a:sy n="90" d="100"/>
        </p:scale>
        <p:origin x="232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9B79-24DE-9748-BD2C-CED018E58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135F8-7023-D74E-A476-124B264D6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9EB77-36B6-2B4D-9CAC-9D1DA728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D05FA-8F63-0E43-9501-26C61D68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4CA6F-DD32-5C49-9E12-70C543C0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5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3CF3-5EBD-A148-98AF-B5280278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66D75-9813-4C4C-BCAE-11ECFBBA6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1B7C-F010-A542-B415-5926D89E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C29C9-2A8F-8048-AF15-AE56E3BC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904E-066E-5142-9C18-12F60E98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0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0AF0-5CBD-4F40-B385-B6FE21F4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56003-C484-444E-AD88-453D1809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C16CC-1CCF-CD41-8997-3F110893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AAB3F-0008-A741-827F-45D3D41F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D55E-1D7A-544F-BF7D-43508C41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8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F9C61-6A50-9848-84EB-8FA6CDAE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BC8A9-6D19-874C-9CDC-27395EA29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D049E-8E3A-7342-9228-769AD583D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CE46F-F7CC-474C-972E-86F5FB27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53052-9DA3-904F-9D03-1E98A1BF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7468B-B948-6C42-9BF1-697B0827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D99E-8EEA-5543-88A6-49F50B641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7AAC7-6D0E-7F4C-8C14-E449AAB33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12C05-9A54-DC4D-A47D-4140D267A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B92E2-C406-5F4E-8882-75F9F8724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F2266-E855-AA4A-B1E9-6E74E7CC3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59A75A-2921-2F45-B034-733F51FF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266CD6-1D9E-CD47-BC5B-B74ED1D4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EEA31-A1AE-F344-AF49-14474F55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8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259C-1DDA-CB4A-B4D7-E470ADEB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632B6-DAE2-084F-9BC7-5B6DEA1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27EBF-F481-A348-B855-F6637DFE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1B2E2-CDBF-CF4E-B7BC-B0955E31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9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B20B6-7266-4E4F-BD76-6C047869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8DBA8-C07A-E74B-AA56-83D2DAF1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27146-C1C5-FB4E-9CB7-9D27936B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A0D8-7A77-8743-B66A-5906134F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38A36-2CAE-1A40-B800-056BC86E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B4ACA-94E2-5C45-ADC7-33C863B62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993E5-6531-1C4F-AF0C-E980B2CB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4E2C5-A2C9-8540-B7AB-DC2E131A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A1C28-B17B-3A4C-BDAC-CD5A9772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9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0DCA5-6D0C-6F43-8B09-7BAC5CF3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74181-2493-3B4A-9AA0-E648CA6AA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367FB-D4D1-5441-B632-A25380833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4825F-5255-FB4C-AA5C-7EF55327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97A52-FBED-D441-A4BA-4C2F15DB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1C3DF-8976-3F40-A7DB-B48CD834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44922-5E87-A141-949E-8CAD1B29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F31ED-C84B-1546-A6FA-191FF43DB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049FD-B6BB-3142-AB75-34972344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BED82-5CE9-534C-A99D-396F83C6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A2F2A-3D4D-7541-BEAF-7D15215D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0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C43209-3105-8948-AA9E-6DB70D542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CBFC4-EDCB-D141-AAA9-8299A44C0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AFA9A-E0FC-C44F-A495-56556EB1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31852-09D3-174A-810E-A5F4515E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86B84-05D0-EE4B-B92C-F87EE6C7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6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D61AF9-C12B-4544-97C2-0289220F2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2F3F8-B791-3D45-A534-4114978AC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61726-4634-3A48-8EC2-E1545BAA7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60BDD-B369-C34D-933D-C4085FDDEFB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4C638-F516-A148-95D4-22D9D648E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41FF1-AA13-FB4C-B5C1-AF3C2BDCB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3025F-2388-FE4D-8831-F8CFCC03C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2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6">
            <a:extLst>
              <a:ext uri="{FF2B5EF4-FFF2-40B4-BE49-F238E27FC236}">
                <a16:creationId xmlns:a16="http://schemas.microsoft.com/office/drawing/2014/main" id="{86295E7F-EA66-480B-B001-C8BE7CD61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0040" y="4892040"/>
            <a:ext cx="11548872" cy="1645920"/>
          </a:xfrm>
          <a:prstGeom prst="rect">
            <a:avLst/>
          </a:prstGeom>
          <a:solidFill>
            <a:srgbClr val="262626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F6DA9-9863-9046-B0EA-6406DA2D8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686" y="5091762"/>
            <a:ext cx="7484787" cy="1264588"/>
          </a:xfrm>
        </p:spPr>
        <p:txBody>
          <a:bodyPr anchor="ctr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Using Google Scholar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11B87-49B3-244D-A9DA-26C6C6CA2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2119" y="5091763"/>
            <a:ext cx="2871195" cy="1264587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solidFill>
                  <a:srgbClr val="FFC000"/>
                </a:solidFill>
              </a:rPr>
              <a:t>A quick guide </a:t>
            </a:r>
            <a:endParaRPr lang="en-US" sz="2000" dirty="0">
              <a:solidFill>
                <a:srgbClr val="FFC000"/>
              </a:solidFill>
            </a:endParaRP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1E557202-14DA-D24B-A581-5C8020118E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97" r="-1" b="12618"/>
          <a:stretch/>
        </p:blipFill>
        <p:spPr>
          <a:xfrm>
            <a:off x="320040" y="320040"/>
            <a:ext cx="11548872" cy="4462272"/>
          </a:xfrm>
          <a:prstGeom prst="rect">
            <a:avLst/>
          </a:prstGeom>
        </p:spPr>
      </p:pic>
      <p:cxnSp>
        <p:nvCxnSpPr>
          <p:cNvPr id="22" name="Straight Connector 18">
            <a:extLst>
              <a:ext uri="{FF2B5EF4-FFF2-40B4-BE49-F238E27FC236}">
                <a16:creationId xmlns:a16="http://schemas.microsoft.com/office/drawing/2014/main" id="{E126E481-B945-4179-BD79-05E96E9B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5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3186F-AE0A-B740-B0F8-976130834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100"/>
              <a:t>Why Google Scholar?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19EC0-549C-5D49-A2B3-C9172D5F1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Google Scholar is part of the Google search engine.  Unlike the search engine you normally use, Google Scholar only shows scholarly articles from – academic journals, books and theses amongst others.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It helps you find relevant research easily and even allows you to find similar studies that you are interested in.</a:t>
            </a:r>
          </a:p>
        </p:txBody>
      </p:sp>
    </p:spTree>
    <p:extLst>
      <p:ext uri="{BB962C8B-B14F-4D97-AF65-F5344CB8AC3E}">
        <p14:creationId xmlns:p14="http://schemas.microsoft.com/office/powerpoint/2010/main" val="200612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DEA9518-CF41-4940-AA49-EF8E23A578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8578" r="33150"/>
          <a:stretch/>
        </p:blipFill>
        <p:spPr>
          <a:xfrm>
            <a:off x="5797543" y="10"/>
            <a:ext cx="6394152" cy="6857990"/>
          </a:xfrm>
          <a:prstGeom prst="rect">
            <a:avLst/>
          </a:prstGeom>
        </p:spPr>
      </p:pic>
      <p:pic>
        <p:nvPicPr>
          <p:cNvPr id="29" name="Picture 20">
            <a:extLst>
              <a:ext uri="{FF2B5EF4-FFF2-40B4-BE49-F238E27FC236}">
                <a16:creationId xmlns:a16="http://schemas.microsoft.com/office/drawing/2014/main" id="{54DDEBDD-D8BD-41A6-8A0D-B00E3768B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DA6C7A-6DFC-134E-8708-461311FC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98" y="798445"/>
            <a:ext cx="4803636" cy="1311664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000000"/>
                </a:solidFill>
              </a:rPr>
              <a:t>Searching for information on Google Scholar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B4BD64-6D10-47BB-967F-BEC81E418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997" y="2272143"/>
            <a:ext cx="4706803" cy="37888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For instance, if you want to conduct a “Diet Coke and Mentos” investigation, you can search for it on Google Scholar as seen in the image on the right. 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As you can see there are 7,720 scholarly articles on ”Diet Coke and Mentos”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423685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63063-8234-9146-A8C5-D8DD5A9A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100"/>
              <a:t>Searching for information on Google Scholar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17DA4E-D658-42BC-89EB-8D5319550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The first result from the search turned up an article from the American Journal of Physics.  This is a respected academic journal.  So now you have a source that you can potentially use to back or dismiss your claims in your own investigation.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You can see the number of times this article has been cited.  Highly cited articles are those that scholars hold in high regards.  So this is a source that you might want to consider using.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FA38F9D-F575-5345-9E1C-AEFDE57A31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8" r="32757" b="-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2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48CD6-DC50-0A4F-A0EC-40ACF109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/>
              <a:t>Searching for information on Google Scholar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5993E01A-2B9D-4C05-B0C8-58DC5B168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If you click on ”.  It would bring you to the citation pop up.</a:t>
            </a:r>
          </a:p>
          <a:p>
            <a:r>
              <a:rPr lang="en-US" sz="2000" dirty="0"/>
              <a:t>And this is another feature of Google Scholar that can make life so much easier for you.  You can easily copy the citation and  paste it into your document.</a:t>
            </a:r>
          </a:p>
          <a:p>
            <a:r>
              <a:rPr lang="en-US" sz="2000" dirty="0"/>
              <a:t>It is still recommended for you to learn MLA formatting so that you can check if the recommended citation has been done correctly.</a:t>
            </a:r>
          </a:p>
        </p:txBody>
      </p:sp>
      <p:pic>
        <p:nvPicPr>
          <p:cNvPr id="7" name="Content Placeholder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5740818-933B-A74E-AC89-70AAE24FE1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2" r="8354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6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0099-4D81-A043-9322-1A16BD51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100" dirty="0"/>
              <a:t>Searching for information on Google Scholar</a:t>
            </a:r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EB4085-0C38-4C22-9CCF-E7DB7781B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When you click on related articles, Google scholar will return results that are similar to the initial article.  Saves you a lot of time.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D6B2EE55-93EA-FF48-8405-DD866CB720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47" r="27678" b="-1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41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50662-D933-8A4D-949F-2D8C7800B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/>
              <a:t>Searching for information on Google Scholar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363063-A448-4E91-8DE4-831D18B50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Unfortunately, we don’t have access to all the articles found on Google Scholar.  If you see a hyperlink on the right of an article, that would mean that you can access the article. 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E604EAF-88C7-C741-8551-C3BAACF732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6" r="9850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2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06746-22D7-9140-A626-800361C50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Happy Googling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05A1684E-43F3-F54F-9FA5-1258C5A69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723" y="2427541"/>
            <a:ext cx="8983455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6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{C281D555-41D8-B84C-81C4-835F181BA3B9}tf10001119</Template>
  <TotalTime>52</TotalTime>
  <Words>368</Words>
  <Application>Microsoft Macintosh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Using Google Scholar</vt:lpstr>
      <vt:lpstr>Why Google Scholar?</vt:lpstr>
      <vt:lpstr>Searching for information on Google Scholar</vt:lpstr>
      <vt:lpstr>Searching for information on Google Scholar</vt:lpstr>
      <vt:lpstr>Searching for information on Google Scholar</vt:lpstr>
      <vt:lpstr>Searching for information on Google Scholar</vt:lpstr>
      <vt:lpstr>Searching for information on Google Scholar</vt:lpstr>
      <vt:lpstr>Happy Googling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Google Scholar</dc:title>
  <dc:creator>Amin Bin Abu Bakar</dc:creator>
  <cp:lastModifiedBy>Amin Bin Abu Bakar</cp:lastModifiedBy>
  <cp:revision>14</cp:revision>
  <dcterms:created xsi:type="dcterms:W3CDTF">2021-04-28T05:06:10Z</dcterms:created>
  <dcterms:modified xsi:type="dcterms:W3CDTF">2021-04-28T06:36:31Z</dcterms:modified>
</cp:coreProperties>
</file>